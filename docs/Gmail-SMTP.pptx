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 PLUS 1p"/>
      <p:regular r:id="rId18"/>
      <p:bold r:id="rId19"/>
    </p:embeddedFont>
    <p:embeddedFont>
      <p:font typeface="M PLUS 1p Medium"/>
      <p:regular r:id="rId20"/>
      <p:bold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PLUS1pMedium-regular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MPLUS1pMedium-bold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PLUS1p-bold.fntdata"/><Relationship Id="rId18" Type="http://schemas.openxmlformats.org/officeDocument/2006/relationships/font" Target="fonts/MPLUS1p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a4fa02db3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18a4fa02db3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4bb3c670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4bb3c670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58be9b73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58be9b73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58be9b73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58be9b73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58be9b734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258be9b734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58be9b734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258be9b73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58be9b73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58be9b73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58be9b734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58be9b734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シンプルタイトル">
  <p:cSld name="TITLE_8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8;p2"/>
          <p:cNvCxnSpPr/>
          <p:nvPr/>
        </p:nvCxnSpPr>
        <p:spPr>
          <a:xfrm>
            <a:off x="168900" y="409675"/>
            <a:ext cx="8806200" cy="0"/>
          </a:xfrm>
          <a:prstGeom prst="straightConnector1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" name="Google Shape;9;p2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M PLUS 1p Medium"/>
              <a:buNone/>
              <a:defRPr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シンプルタイトル_ロゴあり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3" name="Google Shape;13;p3"/>
          <p:cNvCxnSpPr/>
          <p:nvPr/>
        </p:nvCxnSpPr>
        <p:spPr>
          <a:xfrm>
            <a:off x="168900" y="409675"/>
            <a:ext cx="8806200" cy="0"/>
          </a:xfrm>
          <a:prstGeom prst="straightConnector1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3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M PLUS 1p Medium"/>
              <a:buNone/>
              <a:defRPr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/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900" y="4876175"/>
            <a:ext cx="802825" cy="18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orient="horz" pos="3185">
          <p15:clr>
            <a:srgbClr val="FA7B17"/>
          </p15:clr>
        </p15:guide>
        <p15:guide id="3">
          <p15:clr>
            <a:srgbClr val="FA7B17"/>
          </p15:clr>
        </p15:guide>
        <p15:guide id="4" pos="106">
          <p15:clr>
            <a:srgbClr val="FA7B17"/>
          </p15:clr>
        </p15:guide>
        <p15:guide id="5" pos="5760">
          <p15:clr>
            <a:srgbClr val="FA7B17"/>
          </p15:clr>
        </p15:guide>
        <p15:guide id="6" pos="56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シンプルタイトル_ロゴ_サブタイトルあり">
  <p:cSld name="CUSTOM_7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8" name="Google Shape;18;p4"/>
          <p:cNvCxnSpPr/>
          <p:nvPr/>
        </p:nvCxnSpPr>
        <p:spPr>
          <a:xfrm>
            <a:off x="168900" y="409675"/>
            <a:ext cx="8806200" cy="0"/>
          </a:xfrm>
          <a:prstGeom prst="straightConnector1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" name="Google Shape;19;p4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M PLUS 1p Medium"/>
              <a:buNone/>
              <a:defRPr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/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900" y="4876175"/>
            <a:ext cx="802825" cy="1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0" y="666750"/>
            <a:ext cx="914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M PLUS 1p"/>
              <a:buNone/>
              <a:defRPr b="1" sz="2400">
                <a:solidFill>
                  <a:srgbClr val="444444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 PLUS 1p"/>
              <a:buNone/>
              <a:defRPr b="1"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orient="horz" pos="3185">
          <p15:clr>
            <a:srgbClr val="FA7B17"/>
          </p15:clr>
        </p15:guide>
        <p15:guide id="3">
          <p15:clr>
            <a:srgbClr val="FA7B17"/>
          </p15:clr>
        </p15:guide>
        <p15:guide id="4" pos="106">
          <p15:clr>
            <a:srgbClr val="FA7B17"/>
          </p15:clr>
        </p15:guide>
        <p15:guide id="5" pos="5760">
          <p15:clr>
            <a:srgbClr val="FA7B17"/>
          </p15:clr>
        </p15:guide>
        <p15:guide id="6" pos="5654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シンプルタイトル_ロゴと会社名あり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5"/>
          <p:cNvCxnSpPr/>
          <p:nvPr/>
        </p:nvCxnSpPr>
        <p:spPr>
          <a:xfrm>
            <a:off x="168900" y="409675"/>
            <a:ext cx="8806200" cy="0"/>
          </a:xfrm>
          <a:prstGeom prst="straightConnector1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5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M PLUS 1p Medium"/>
              <a:buNone/>
              <a:defRPr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 PLUS 1p Medium"/>
              <a:buNone/>
              <a:defRPr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900" y="4876175"/>
            <a:ext cx="802825" cy="1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/>
        </p:nvSpPr>
        <p:spPr>
          <a:xfrm>
            <a:off x="6029525" y="482025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444444"/>
                </a:solidFill>
              </a:rPr>
              <a:t>© 2022 SAMURAI, Inc. All Rights Reserved. │ </a:t>
            </a:r>
            <a:fld id="{00000000-1234-1234-1234-123412341234}" type="slidenum">
              <a:rPr lang="ja" sz="700">
                <a:solidFill>
                  <a:srgbClr val="444444"/>
                </a:solidFill>
              </a:rPr>
              <a:t>‹#›</a:t>
            </a:fld>
            <a:endParaRPr sz="700">
              <a:solidFill>
                <a:srgbClr val="444444"/>
              </a:solidFill>
            </a:endParaRPr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1pPr>
            <a:lvl2pPr lvl="1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2pPr>
            <a:lvl3pPr lvl="2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3pPr>
            <a:lvl4pPr lvl="3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4pPr>
            <a:lvl5pPr lvl="4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5pPr>
            <a:lvl6pPr lvl="5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6pPr>
            <a:lvl7pPr lvl="6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7pPr>
            <a:lvl8pPr lvl="7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8pPr>
            <a:lvl9pPr lvl="8">
              <a:buNone/>
              <a:defRPr sz="1300">
                <a:solidFill>
                  <a:srgbClr val="444444"/>
                </a:solidFill>
                <a:latin typeface="M PLUS 1p Medium"/>
                <a:ea typeface="M PLUS 1p Medium"/>
                <a:cs typeface="M PLUS 1p Medium"/>
                <a:sym typeface="M PLUS 1p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orient="horz" pos="3185">
          <p15:clr>
            <a:srgbClr val="FA7B17"/>
          </p15:clr>
        </p15:guide>
        <p15:guide id="3">
          <p15:clr>
            <a:srgbClr val="FA7B17"/>
          </p15:clr>
        </p15:guide>
        <p15:guide id="4" pos="106">
          <p15:clr>
            <a:srgbClr val="FA7B17"/>
          </p15:clr>
        </p15:guide>
        <p15:guide id="5" pos="5760">
          <p15:clr>
            <a:srgbClr val="FA7B17"/>
          </p15:clr>
        </p15:guide>
        <p15:guide id="6" pos="5654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扉ページ１行" type="blank">
  <p:cSld name="BLANK">
    <p:bg>
      <p:bgPr>
        <a:solidFill>
          <a:srgbClr val="BE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682050" y="2165550"/>
            <a:ext cx="77799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 PLUS 1p"/>
              <a:buNone/>
              <a:defRPr b="1" sz="28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M PLUS 1p"/>
              <a:buNone/>
              <a:defRPr b="1" sz="2400"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511713" y="1452625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511712" y="1779575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title"/>
          </p:nvPr>
        </p:nvSpPr>
        <p:spPr>
          <a:xfrm>
            <a:off x="4845487" y="1455263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845487" y="1782238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title"/>
          </p:nvPr>
        </p:nvSpPr>
        <p:spPr>
          <a:xfrm>
            <a:off x="2768313" y="2877450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2768312" y="3204400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title"/>
          </p:nvPr>
        </p:nvSpPr>
        <p:spPr>
          <a:xfrm>
            <a:off x="6100575" y="2878082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6100575" y="3205057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hasCustomPrompt="1" idx="8" type="title"/>
          </p:nvPr>
        </p:nvSpPr>
        <p:spPr>
          <a:xfrm>
            <a:off x="1959337" y="316430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43" name="Google Shape;43;p8"/>
          <p:cNvSpPr txBox="1"/>
          <p:nvPr>
            <p:ph hasCustomPrompt="1" idx="9" type="title"/>
          </p:nvPr>
        </p:nvSpPr>
        <p:spPr>
          <a:xfrm>
            <a:off x="704337" y="173035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44" name="Google Shape;44;p8"/>
          <p:cNvSpPr txBox="1"/>
          <p:nvPr>
            <p:ph hasCustomPrompt="1" idx="13" type="title"/>
          </p:nvPr>
        </p:nvSpPr>
        <p:spPr>
          <a:xfrm>
            <a:off x="5304000" y="3183632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45" name="Google Shape;45;p8"/>
          <p:cNvSpPr txBox="1"/>
          <p:nvPr>
            <p:ph hasCustomPrompt="1" idx="14" type="title"/>
          </p:nvPr>
        </p:nvSpPr>
        <p:spPr>
          <a:xfrm>
            <a:off x="4048912" y="1719213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1511713" y="1452625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1511712" y="1779575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2" type="title"/>
          </p:nvPr>
        </p:nvSpPr>
        <p:spPr>
          <a:xfrm>
            <a:off x="4845487" y="1455263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p9"/>
          <p:cNvSpPr txBox="1"/>
          <p:nvPr>
            <p:ph idx="3" type="subTitle"/>
          </p:nvPr>
        </p:nvSpPr>
        <p:spPr>
          <a:xfrm>
            <a:off x="4845487" y="1782238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4" type="title"/>
          </p:nvPr>
        </p:nvSpPr>
        <p:spPr>
          <a:xfrm>
            <a:off x="2768313" y="2877450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p9"/>
          <p:cNvSpPr txBox="1"/>
          <p:nvPr>
            <p:ph idx="5" type="subTitle"/>
          </p:nvPr>
        </p:nvSpPr>
        <p:spPr>
          <a:xfrm>
            <a:off x="2768312" y="3204400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6" type="title"/>
          </p:nvPr>
        </p:nvSpPr>
        <p:spPr>
          <a:xfrm>
            <a:off x="6100575" y="2878082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9"/>
          <p:cNvSpPr txBox="1"/>
          <p:nvPr>
            <p:ph idx="7" type="subTitle"/>
          </p:nvPr>
        </p:nvSpPr>
        <p:spPr>
          <a:xfrm>
            <a:off x="6100575" y="3205057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hasCustomPrompt="1" idx="8" type="title"/>
          </p:nvPr>
        </p:nvSpPr>
        <p:spPr>
          <a:xfrm>
            <a:off x="1959337" y="316430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57" name="Google Shape;57;p9"/>
          <p:cNvSpPr txBox="1"/>
          <p:nvPr>
            <p:ph hasCustomPrompt="1" idx="9" type="title"/>
          </p:nvPr>
        </p:nvSpPr>
        <p:spPr>
          <a:xfrm>
            <a:off x="704337" y="173035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58" name="Google Shape;58;p9"/>
          <p:cNvSpPr txBox="1"/>
          <p:nvPr>
            <p:ph hasCustomPrompt="1" idx="13" type="title"/>
          </p:nvPr>
        </p:nvSpPr>
        <p:spPr>
          <a:xfrm>
            <a:off x="5304000" y="3183632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59" name="Google Shape;59;p9"/>
          <p:cNvSpPr txBox="1"/>
          <p:nvPr>
            <p:ph hasCustomPrompt="1" idx="14" type="title"/>
          </p:nvPr>
        </p:nvSpPr>
        <p:spPr>
          <a:xfrm>
            <a:off x="4048912" y="1719213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852363" y="483136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背景">
  <p:cSld name="CUSTOM_5_1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08">
          <p15:clr>
            <a:srgbClr val="FA7B17"/>
          </p15:clr>
        </p15:guide>
        <p15:guide id="2" pos="3815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_6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BLANK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511713" y="1452625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1511712" y="1779575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2" type="title"/>
          </p:nvPr>
        </p:nvSpPr>
        <p:spPr>
          <a:xfrm>
            <a:off x="4845487" y="1455263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5" name="Google Shape;85;p16"/>
          <p:cNvSpPr txBox="1"/>
          <p:nvPr>
            <p:ph idx="3" type="subTitle"/>
          </p:nvPr>
        </p:nvSpPr>
        <p:spPr>
          <a:xfrm>
            <a:off x="4845487" y="1782238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4" type="title"/>
          </p:nvPr>
        </p:nvSpPr>
        <p:spPr>
          <a:xfrm>
            <a:off x="2768313" y="2877450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768312" y="3204400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title"/>
          </p:nvPr>
        </p:nvSpPr>
        <p:spPr>
          <a:xfrm>
            <a:off x="6100575" y="2878082"/>
            <a:ext cx="23391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72000" rtl="0">
              <a:spcBef>
                <a:spcPts val="0"/>
              </a:spcBef>
              <a:spcAft>
                <a:spcPts val="0"/>
              </a:spcAft>
              <a:buSzPts val="1400"/>
              <a:buNone/>
              <a:defRPr i="0" sz="2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100575" y="3205057"/>
            <a:ext cx="2339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hasCustomPrompt="1" idx="8" type="title"/>
          </p:nvPr>
        </p:nvSpPr>
        <p:spPr>
          <a:xfrm>
            <a:off x="1959337" y="316430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91" name="Google Shape;91;p16"/>
          <p:cNvSpPr txBox="1"/>
          <p:nvPr>
            <p:ph hasCustomPrompt="1" idx="9" type="title"/>
          </p:nvPr>
        </p:nvSpPr>
        <p:spPr>
          <a:xfrm>
            <a:off x="704337" y="1730350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92" name="Google Shape;92;p16"/>
          <p:cNvSpPr txBox="1"/>
          <p:nvPr>
            <p:ph hasCustomPrompt="1" idx="13" type="title"/>
          </p:nvPr>
        </p:nvSpPr>
        <p:spPr>
          <a:xfrm>
            <a:off x="5304000" y="3183632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93" name="Google Shape;93;p16"/>
          <p:cNvSpPr txBox="1"/>
          <p:nvPr>
            <p:ph hasCustomPrompt="1" idx="14" type="title"/>
          </p:nvPr>
        </p:nvSpPr>
        <p:spPr>
          <a:xfrm>
            <a:off x="4048912" y="1719213"/>
            <a:ext cx="6000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24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0">
  <p:cSld name="TITLE_10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【デフォルト】タイトル スライド">
  <p:cSld name="TITLE_1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304" y="4757270"/>
            <a:ext cx="1654715" cy="27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2130125" y="4850316"/>
            <a:ext cx="6868500" cy="135000"/>
          </a:xfrm>
          <a:prstGeom prst="rect">
            <a:avLst/>
          </a:prstGeom>
          <a:solidFill>
            <a:srgbClr val="BE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85868" y="50437"/>
            <a:ext cx="89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現在の転職市場について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03900" y="98550"/>
            <a:ext cx="8853000" cy="356100"/>
          </a:xfrm>
          <a:prstGeom prst="rect">
            <a:avLst/>
          </a:prstGeom>
          <a:solidFill>
            <a:srgbClr val="BE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2_1">
  <p:cSld name="BLANK_1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上帯">
  <p:cSld name="CUSTOM_3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0" y="0"/>
            <a:ext cx="9144000" cy="1009800"/>
          </a:xfrm>
          <a:prstGeom prst="rect">
            <a:avLst/>
          </a:prstGeom>
          <a:solidFill>
            <a:srgbClr val="C400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1326300" y="415188"/>
            <a:ext cx="6491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iraKakuPro-W3"/>
              <a:buNone/>
              <a:defRPr b="1" sz="20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iraKakuPro-W3"/>
              <a:buNone/>
              <a:defRPr sz="24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>
            <a:off x="1924350" y="132425"/>
            <a:ext cx="5295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iraKakuPro-W3"/>
              <a:buNone/>
              <a:defRPr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9pPr>
          </a:lstStyle>
          <a:p/>
        </p:txBody>
      </p:sp>
      <p:sp>
        <p:nvSpPr>
          <p:cNvPr id="113" name="Google Shape;113;p21"/>
          <p:cNvSpPr txBox="1"/>
          <p:nvPr/>
        </p:nvSpPr>
        <p:spPr>
          <a:xfrm>
            <a:off x="3270600" y="4824900"/>
            <a:ext cx="2602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rgbClr val="999999"/>
                </a:solidFill>
              </a:rPr>
              <a:t>©Samurai, Inc. All Rights Reserved.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1pPr>
            <a:lvl2pPr lvl="1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2pPr>
            <a:lvl3pPr lvl="2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3pPr>
            <a:lvl4pPr lvl="3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4pPr>
            <a:lvl5pPr lvl="4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5pPr>
            <a:lvl6pPr lvl="5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6pPr>
            <a:lvl7pPr lvl="6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7pPr>
            <a:lvl8pPr lvl="7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8pPr>
            <a:lvl9pPr lvl="8">
              <a:buNone/>
              <a:defRPr sz="1300">
                <a:solidFill>
                  <a:srgbClr val="FFFFFF"/>
                </a:solidFill>
                <a:latin typeface="HiraKakuPro-W3"/>
                <a:ea typeface="HiraKakuPro-W3"/>
                <a:cs typeface="HiraKakuPro-W3"/>
                <a:sym typeface="HiraKakuPro-W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1076" r="1066" t="0"/>
          <a:stretch/>
        </p:blipFill>
        <p:spPr>
          <a:xfrm>
            <a:off x="0" y="0"/>
            <a:ext cx="9144005" cy="525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3338700" y="4716661"/>
            <a:ext cx="24666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b="0" i="0" lang="ja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©20</a:t>
            </a:r>
            <a:r>
              <a:rPr lang="ja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</a:t>
            </a:r>
            <a:r>
              <a:rPr b="0" i="0" lang="ja" sz="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Samurai, Inc. All Rights Reserved.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684000" y="2358575"/>
            <a:ext cx="6435900" cy="105150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5400000" dist="190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chemeClr val="lt1"/>
                </a:solidFill>
                <a:latin typeface="M PLUS 1p"/>
                <a:ea typeface="M PLUS 1p"/>
                <a:cs typeface="M PLUS 1p"/>
                <a:sym typeface="M PLUS 1p"/>
              </a:rPr>
              <a:t>GmailのSMTPサーバーへの認証方法</a:t>
            </a:r>
            <a:endParaRPr b="1" sz="2500">
              <a:solidFill>
                <a:schemeClr val="lt1"/>
              </a:solidFill>
              <a:latin typeface="M PLUS 1p"/>
              <a:ea typeface="M PLUS 1p"/>
              <a:cs typeface="M PLUS 1p"/>
              <a:sym typeface="M PLUS 1p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575" y="1764672"/>
            <a:ext cx="1912675" cy="4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手順１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6651750" y="608525"/>
            <a:ext cx="23592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Googleアカウントにログインし、右上のアイコンをクリックします。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②「Googleアカウントを管理」をクリックします。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③「セキュリティ」をクリックします。</a:t>
            </a:r>
            <a:endParaRPr b="1" sz="1100"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00" y="608525"/>
            <a:ext cx="6341650" cy="4115975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7" name="Google Shape;137;p24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手順２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6702800" y="670400"/>
            <a:ext cx="23592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Googleに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ログインする方法までスクロールダウンし、「２段階認証プロセス」を有効化します。</a:t>
            </a:r>
            <a:endParaRPr b="1" sz="1100"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00" y="706513"/>
            <a:ext cx="6412725" cy="3730475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手順３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0" y="1684000"/>
            <a:ext cx="2766971" cy="300545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539" y="1684000"/>
            <a:ext cx="3275662" cy="3005448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2325" y="1684000"/>
            <a:ext cx="2766974" cy="2950343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5"/>
          <p:cNvSpPr txBox="1"/>
          <p:nvPr/>
        </p:nvSpPr>
        <p:spPr>
          <a:xfrm>
            <a:off x="241950" y="669650"/>
            <a:ext cx="80409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「２段階認証プロセス」の</a:t>
            </a:r>
            <a:r>
              <a:rPr b="1" lang="ja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手順にしたがい、認証を完了します。</a:t>
            </a:r>
            <a:endParaRPr b="1"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おすすめの方法はテキストメッセージによるコード取得です。</a:t>
            </a:r>
            <a:endParaRPr b="1"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手順４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572000" y="770225"/>
            <a:ext cx="3208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２段階認証が</a:t>
            </a:r>
            <a:r>
              <a:rPr b="1" lang="ja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完了したら、２段階認証プロセスの画面を一番下までスクロールダウンし「アプリパスワード」をクリックします。</a:t>
            </a:r>
            <a:endParaRPr b="1" sz="13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300" y="565625"/>
            <a:ext cx="3553267" cy="4233676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手順５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2600"/>
            <a:ext cx="6012502" cy="44985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27"/>
          <p:cNvSpPr txBox="1"/>
          <p:nvPr/>
        </p:nvSpPr>
        <p:spPr>
          <a:xfrm>
            <a:off x="6319150" y="608525"/>
            <a:ext cx="2691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アプリを選択をクリックし「その他（名前を入力）」を選択します。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名前は自由ですが「Pythonメール自動送信」など分かりやすい名前にしましょう。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②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生成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をクリック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します。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1" name="Google Shape;171;p28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手順６</a:t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50" y="492600"/>
            <a:ext cx="5657600" cy="434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6319150" y="608525"/>
            <a:ext cx="2691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１６文字のパスワードが表示されるので、コピーしましょう。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②</a:t>
            </a: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完了をクリックして閉じましょう。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※この画面を閉じると二度とパスワードは表示できません。パスワードは必ず保存しましょう。</a:t>
            </a:r>
            <a:endParaRPr b="1" sz="11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513308" y="4799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9" name="Google Shape;179;p29"/>
          <p:cNvSpPr txBox="1"/>
          <p:nvPr>
            <p:ph type="title"/>
          </p:nvPr>
        </p:nvSpPr>
        <p:spPr>
          <a:xfrm>
            <a:off x="74850" y="0"/>
            <a:ext cx="91917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手順７</a:t>
            </a:r>
            <a:endParaRPr/>
          </a:p>
        </p:txBody>
      </p:sp>
      <p:sp>
        <p:nvSpPr>
          <p:cNvPr id="180" name="Google Shape;180;p29"/>
          <p:cNvSpPr txBox="1"/>
          <p:nvPr/>
        </p:nvSpPr>
        <p:spPr>
          <a:xfrm>
            <a:off x="265150" y="2340900"/>
            <a:ext cx="80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これで、GmailのSMTPサーバーへの認証準備は完了です。</a:t>
            </a:r>
            <a:endParaRPr b="1"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サービス説明用">
  <a:themeElements>
    <a:clrScheme name="Simple Light">
      <a:dk1>
        <a:srgbClr val="444444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